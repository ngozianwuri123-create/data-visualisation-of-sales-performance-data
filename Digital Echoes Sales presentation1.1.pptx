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7" r:id="rId7"/>
    <p:sldId id="262" r:id="rId8"/>
    <p:sldId id="268" r:id="rId9"/>
    <p:sldId id="269" r:id="rId10"/>
    <p:sldId id="263" r:id="rId11"/>
    <p:sldId id="270" r:id="rId12"/>
    <p:sldId id="264" r:id="rId13"/>
    <p:sldId id="265" r:id="rId14"/>
    <p:sldId id="26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gxMC1B1s8VDIA0TJTh0GOcHXXQ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172355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16502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81665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2326342" y="712973"/>
            <a:ext cx="8477991" cy="932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GB" sz="4000" b="1"/>
              <a:t>DIGITAL ECHOES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258257" y="1891158"/>
            <a:ext cx="9869288" cy="4253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GB" sz="2800" dirty="0">
                <a:solidFill>
                  <a:srgbClr val="0070C0"/>
                </a:solidFill>
              </a:rPr>
              <a:t>ANNUAL SALES PERFORMANCE REPORT FROM 2010 - 2017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>
              <a:solidFill>
                <a:srgbClr val="0070C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GB" sz="2800" dirty="0">
                <a:solidFill>
                  <a:srgbClr val="0070C0"/>
                </a:solidFill>
              </a:rPr>
              <a:t>DATA TYPE: ANNUAL SALES DATA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GB" sz="2800" dirty="0">
                <a:solidFill>
                  <a:srgbClr val="0070C0"/>
                </a:solidFill>
              </a:rPr>
              <a:t>REPORTING CYCLE: 2010 – 2017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>
              <a:solidFill>
                <a:srgbClr val="0070C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GB" sz="2800" dirty="0">
                <a:solidFill>
                  <a:srgbClr val="0070C0"/>
                </a:solidFill>
              </a:rPr>
              <a:t>PRESENTED BY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GB" sz="2800" dirty="0">
                <a:solidFill>
                  <a:srgbClr val="0070C0"/>
                </a:solidFill>
              </a:rPr>
              <a:t>Ngozi Anwuri 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1B86E1-336F-4A7E-A317-C6E1DCAB0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55" y="100458"/>
            <a:ext cx="1905000" cy="1790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b="1" dirty="0"/>
              <a:t>GROUP NAME AND TEAM MEMBERS</a:t>
            </a:r>
            <a:endParaRPr dirty="0"/>
          </a:p>
        </p:txBody>
      </p:sp>
      <p:sp>
        <p:nvSpPr>
          <p:cNvPr id="92" name="Google Shape;92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spcBef>
                <a:spcPts val="0"/>
              </a:spcBef>
              <a:buFont typeface="Arial"/>
              <a:buAutoNum type="arabicPeriod"/>
            </a:pPr>
            <a:r>
              <a:rPr lang="en-GB" dirty="0"/>
              <a:t>Ngozi Anwuri</a:t>
            </a: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/>
              <a:t>Peter </a:t>
            </a:r>
            <a:r>
              <a:rPr lang="en-GB" dirty="0" err="1"/>
              <a:t>Ighodaro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 err="1"/>
              <a:t>Obiora</a:t>
            </a:r>
            <a:r>
              <a:rPr lang="en-GB" dirty="0"/>
              <a:t> </a:t>
            </a:r>
            <a:r>
              <a:rPr lang="en-GB" dirty="0" err="1"/>
              <a:t>Ugwu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/>
              <a:t>Henry </a:t>
            </a:r>
            <a:r>
              <a:rPr lang="en-GB" dirty="0" err="1"/>
              <a:t>Akpoyibo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b="1"/>
              <a:t>BECNH-MARK</a:t>
            </a:r>
            <a:endParaRPr/>
          </a:p>
        </p:txBody>
      </p:sp>
      <p:sp>
        <p:nvSpPr>
          <p:cNvPr id="98" name="Google Shape;98;p3"/>
          <p:cNvSpPr txBox="1"/>
          <p:nvPr/>
        </p:nvSpPr>
        <p:spPr>
          <a:xfrm>
            <a:off x="672760" y="2063768"/>
            <a:ext cx="11053743" cy="347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GB" sz="27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BENCH-MARKS (TARGET)	-	</a:t>
            </a:r>
            <a:r>
              <a:rPr lang="en-GB" sz="27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(ASSUMED VALUED)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endParaRPr sz="2700" b="1" i="0" u="none" strike="noStrike" cap="none" dirty="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Annual Total Cost Target		= £5,000,000.00 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Annual Total Profit Target	=	£10,000,000.00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Annual Revenue (Sales) Target	=	£15,000,000.00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Annual Units Sold (Qty) Target	=	1,000,000</a:t>
            </a:r>
            <a:endParaRPr sz="2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71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endParaRPr sz="2700" b="1" i="0" u="none" strike="noStrike" cap="none" dirty="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71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endParaRPr sz="2700" b="1" i="0" u="none" strike="noStrike" cap="none" dirty="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endParaRPr sz="2700" b="1" i="0" u="none" strike="noStrike" cap="none" dirty="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444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endParaRPr sz="2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b="1"/>
              <a:t>KEY PERFORMANCE INDICATORS</a:t>
            </a:r>
            <a:endParaRPr/>
          </a:p>
        </p:txBody>
      </p:sp>
      <p:sp>
        <p:nvSpPr>
          <p:cNvPr id="104" name="Google Shape;104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2894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</a:pPr>
            <a:endParaRPr sz="2700" b="1">
              <a:solidFill>
                <a:srgbClr val="7030A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endParaRPr sz="900" b="1">
              <a:solidFill>
                <a:srgbClr val="7030A0"/>
              </a:solidFill>
            </a:endParaRPr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GB" sz="2800">
                <a:latin typeface="Calibri"/>
                <a:ea typeface="Calibri"/>
                <a:cs typeface="Calibri"/>
                <a:sym typeface="Calibri"/>
              </a:rPr>
              <a:t>Calculate the total revenue made annually. 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Average amount of profit achieved annually.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b="1"/>
              <a:t>TERMINOLOGIES</a:t>
            </a:r>
            <a:endParaRPr/>
          </a:p>
        </p:txBody>
      </p:sp>
      <p:sp>
        <p:nvSpPr>
          <p:cNvPr id="110" name="Google Shape;110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2894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700" b="1">
              <a:solidFill>
                <a:srgbClr val="7030A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7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2700"/>
              <a:t>Total Revenue Annually - </a:t>
            </a:r>
            <a:r>
              <a:rPr lang="en-GB"/>
              <a:t>This measures the overall sales generated each year.</a:t>
            </a:r>
            <a:endParaRPr sz="27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7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2700"/>
              <a:t>Average Annual Profit - </a:t>
            </a:r>
            <a:r>
              <a:rPr lang="en-GB"/>
              <a:t>This reflects the company’s ability to convert revenue into earnings after costs</a:t>
            </a:r>
            <a:endParaRPr sz="27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700"/>
          </a:p>
          <a:p>
            <a:pPr marL="228600" lvl="0" indent="-700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28652B-F337-46BE-A2B6-D852C57B2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60" y="91297"/>
            <a:ext cx="11834290" cy="65345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6F39AE-64D3-4877-B404-8B30DD1E2AD9}"/>
              </a:ext>
            </a:extLst>
          </p:cNvPr>
          <p:cNvSpPr txBox="1"/>
          <p:nvPr/>
        </p:nvSpPr>
        <p:spPr>
          <a:xfrm>
            <a:off x="8378139" y="1161515"/>
            <a:ext cx="180530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accent6"/>
                </a:solidFill>
              </a:rPr>
              <a:t>Key</a:t>
            </a:r>
          </a:p>
          <a:p>
            <a:r>
              <a:rPr lang="en-GB" sz="2000" dirty="0">
                <a:solidFill>
                  <a:schemeClr val="accent6"/>
                </a:solidFill>
              </a:rPr>
              <a:t>Target set …. </a:t>
            </a:r>
          </a:p>
          <a:p>
            <a:r>
              <a:rPr lang="en-GB" sz="2000" dirty="0">
                <a:solidFill>
                  <a:srgbClr val="FF0000"/>
                </a:solidFill>
              </a:rPr>
              <a:t>Trend ……</a:t>
            </a:r>
            <a:r>
              <a:rPr lang="en-GB" sz="1200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3679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>
            <a:spLocks noGrp="1"/>
          </p:cNvSpPr>
          <p:nvPr>
            <p:ph type="title"/>
          </p:nvPr>
        </p:nvSpPr>
        <p:spPr>
          <a:xfrm>
            <a:off x="341745" y="143453"/>
            <a:ext cx="10515600" cy="57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GB" b="1" dirty="0"/>
              <a:t>KPI 1: Total Revenue made annually</a:t>
            </a:r>
            <a:endParaRPr dirty="0"/>
          </a:p>
        </p:txBody>
      </p:sp>
      <p:sp>
        <p:nvSpPr>
          <p:cNvPr id="131" name="Google Shape;131;p7"/>
          <p:cNvSpPr txBox="1"/>
          <p:nvPr/>
        </p:nvSpPr>
        <p:spPr>
          <a:xfrm>
            <a:off x="7262025" y="888525"/>
            <a:ext cx="4848300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 REPORT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(Fig 1) Show the  revenue for digital echoes from the period of 2010 to 2017.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The highest total revenue can be seen in 2012 of £128M.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The lowest total revenue can be seen in 2012 of £45M.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The sales targets has been set for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£15, 000000 which has been exceeded every year. </a:t>
            </a:r>
            <a:endParaRPr lang="en-GB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3F7D3B-FBF3-4463-B001-6371E6EA5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71" y="1007158"/>
            <a:ext cx="6740026" cy="40994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E16055-5B18-4A0C-AE0F-EA4FD5621F5D}"/>
              </a:ext>
            </a:extLst>
          </p:cNvPr>
          <p:cNvSpPr txBox="1"/>
          <p:nvPr/>
        </p:nvSpPr>
        <p:spPr>
          <a:xfrm>
            <a:off x="590843" y="4952682"/>
            <a:ext cx="7008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(Fig 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>
            <a:spLocks noGrp="1"/>
          </p:cNvSpPr>
          <p:nvPr>
            <p:ph type="title"/>
          </p:nvPr>
        </p:nvSpPr>
        <p:spPr>
          <a:xfrm>
            <a:off x="341745" y="143453"/>
            <a:ext cx="10515600" cy="57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GB" b="1" dirty="0"/>
              <a:t>KPI 1: Total Revenue made annually</a:t>
            </a:r>
            <a:endParaRPr dirty="0"/>
          </a:p>
        </p:txBody>
      </p:sp>
      <p:sp>
        <p:nvSpPr>
          <p:cNvPr id="131" name="Google Shape;131;p7"/>
          <p:cNvSpPr txBox="1"/>
          <p:nvPr/>
        </p:nvSpPr>
        <p:spPr>
          <a:xfrm>
            <a:off x="7262025" y="888525"/>
            <a:ext cx="4848300" cy="4647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 REPORT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(Fig 2) Show the  revenue the trend in total sales of digital echoes from the period of 2010 to 2017.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The largest increase in sales occurred from 2011 to 2012 with an 183% Increase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Overall revenue change over the period of 2010 to 2017 is 10.79%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E8ECC5-C034-4C00-9452-D1D7F8698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745" y="888525"/>
            <a:ext cx="6711700" cy="43691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2FC6B9-8918-4989-869C-D23F7D5F8E18}"/>
              </a:ext>
            </a:extLst>
          </p:cNvPr>
          <p:cNvSpPr txBox="1"/>
          <p:nvPr/>
        </p:nvSpPr>
        <p:spPr>
          <a:xfrm>
            <a:off x="590843" y="4952682"/>
            <a:ext cx="7008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(Fig 2)</a:t>
            </a:r>
          </a:p>
        </p:txBody>
      </p:sp>
    </p:spTree>
    <p:extLst>
      <p:ext uri="{BB962C8B-B14F-4D97-AF65-F5344CB8AC3E}">
        <p14:creationId xmlns:p14="http://schemas.microsoft.com/office/powerpoint/2010/main" val="4175885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>
            <a:spLocks noGrp="1"/>
          </p:cNvSpPr>
          <p:nvPr>
            <p:ph type="title"/>
          </p:nvPr>
        </p:nvSpPr>
        <p:spPr>
          <a:xfrm>
            <a:off x="341745" y="143453"/>
            <a:ext cx="10515600" cy="57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GB" b="1" dirty="0"/>
              <a:t>KPI 1: Total Revenue made annually</a:t>
            </a:r>
            <a:endParaRPr dirty="0"/>
          </a:p>
        </p:txBody>
      </p:sp>
      <p:sp>
        <p:nvSpPr>
          <p:cNvPr id="131" name="Google Shape;131;p7"/>
          <p:cNvSpPr txBox="1"/>
          <p:nvPr/>
        </p:nvSpPr>
        <p:spPr>
          <a:xfrm>
            <a:off x="7262025" y="888525"/>
            <a:ext cx="4848300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 REPORT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(Tab 1) Show the  percentage change in revenue from 2010 to 2017 for digital echoes.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Despite the significant increase in 2011 to 2012, this trend was  not sustained from 2013 to 2016.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(Tab 1) shows a positive increase in revenue from 2016 to 2017 of 8.1% which is notable.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2FC6B9-8918-4989-869C-D23F7D5F8E18}"/>
              </a:ext>
            </a:extLst>
          </p:cNvPr>
          <p:cNvSpPr txBox="1"/>
          <p:nvPr/>
        </p:nvSpPr>
        <p:spPr>
          <a:xfrm>
            <a:off x="341745" y="4684541"/>
            <a:ext cx="7601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(Tab 1)</a:t>
            </a:r>
          </a:p>
        </p:txBody>
      </p:sp>
      <p:pic>
        <p:nvPicPr>
          <p:cNvPr id="7" name="Google Shape;120;p6">
            <a:extLst>
              <a:ext uri="{FF2B5EF4-FFF2-40B4-BE49-F238E27FC236}">
                <a16:creationId xmlns:a16="http://schemas.microsoft.com/office/drawing/2014/main" id="{481868B8-8A0B-4EF3-ABA7-1556AD1783B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635" y="1094744"/>
            <a:ext cx="6706169" cy="35897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9442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 txBox="1">
            <a:spLocks noGrp="1"/>
          </p:cNvSpPr>
          <p:nvPr>
            <p:ph type="title"/>
          </p:nvPr>
        </p:nvSpPr>
        <p:spPr>
          <a:xfrm>
            <a:off x="341745" y="14345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b="1"/>
              <a:t>KPI 2 Average profits made annually </a:t>
            </a:r>
            <a:endParaRPr/>
          </a:p>
        </p:txBody>
      </p:sp>
      <p:sp>
        <p:nvSpPr>
          <p:cNvPr id="138" name="Google Shape;138;p9"/>
          <p:cNvSpPr txBox="1"/>
          <p:nvPr/>
        </p:nvSpPr>
        <p:spPr>
          <a:xfrm>
            <a:off x="7813674" y="1082276"/>
            <a:ext cx="4243754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 REPORT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(Fig 3) Compares the average profit of digital echoes from 2010 to 2017.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Overall annual profit targets of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£1 M was not met from the time period analysed.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2010 had the highest average profit of £0.66M in comparison to 2011 that had the lowest average profit of £0.23M.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A0231B-9615-48BA-9471-49A3EBADD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136" y="1522087"/>
            <a:ext cx="7471362" cy="40435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576560-CED4-4615-A08D-F8264F8399AC}"/>
              </a:ext>
            </a:extLst>
          </p:cNvPr>
          <p:cNvSpPr txBox="1"/>
          <p:nvPr/>
        </p:nvSpPr>
        <p:spPr>
          <a:xfrm>
            <a:off x="341745" y="5182024"/>
            <a:ext cx="7008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(Fig 3)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 txBox="1">
            <a:spLocks noGrp="1"/>
          </p:cNvSpPr>
          <p:nvPr>
            <p:ph type="title"/>
          </p:nvPr>
        </p:nvSpPr>
        <p:spPr>
          <a:xfrm>
            <a:off x="341745" y="14345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b="1"/>
              <a:t>KPI 2 Average profits made annually </a:t>
            </a:r>
            <a:endParaRPr/>
          </a:p>
        </p:txBody>
      </p:sp>
      <p:sp>
        <p:nvSpPr>
          <p:cNvPr id="138" name="Google Shape;138;p9"/>
          <p:cNvSpPr txBox="1"/>
          <p:nvPr/>
        </p:nvSpPr>
        <p:spPr>
          <a:xfrm>
            <a:off x="7771471" y="1082276"/>
            <a:ext cx="4243754" cy="5632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 REPORT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(Tab 2) Compares the percentage change in average profit of digital echoes from 2010 to 2017.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Average profits have increased consistently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from 2011 to 2012 by 83% 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2012 to 2013 by 34%.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also see an increase in average profits from 2015 to 2016 by 35%.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from 2016 to 2017 by 4%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576560-CED4-4615-A08D-F8264F8399AC}"/>
              </a:ext>
            </a:extLst>
          </p:cNvPr>
          <p:cNvSpPr txBox="1"/>
          <p:nvPr/>
        </p:nvSpPr>
        <p:spPr>
          <a:xfrm>
            <a:off x="341745" y="4895557"/>
            <a:ext cx="7601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(Tab 2)</a:t>
            </a:r>
          </a:p>
        </p:txBody>
      </p:sp>
      <p:pic>
        <p:nvPicPr>
          <p:cNvPr id="7" name="Google Shape;125;p6">
            <a:extLst>
              <a:ext uri="{FF2B5EF4-FFF2-40B4-BE49-F238E27FC236}">
                <a16:creationId xmlns:a16="http://schemas.microsoft.com/office/drawing/2014/main" id="{6DD71E57-4051-43CC-918C-286064CAA8D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745" y="1469153"/>
            <a:ext cx="6987523" cy="34264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62561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b="1"/>
              <a:t>CONCLUSION</a:t>
            </a:r>
            <a:endParaRPr/>
          </a:p>
        </p:txBody>
      </p:sp>
      <p:sp>
        <p:nvSpPr>
          <p:cNvPr id="145" name="Google Shape;145;p11"/>
          <p:cNvSpPr txBox="1">
            <a:spLocks noGrp="1"/>
          </p:cNvSpPr>
          <p:nvPr>
            <p:ph type="body" idx="1"/>
          </p:nvPr>
        </p:nvSpPr>
        <p:spPr>
          <a:xfrm>
            <a:off x="281811" y="1690688"/>
            <a:ext cx="11403295" cy="46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187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4938"/>
              <a:buChar char="•"/>
            </a:pPr>
            <a:r>
              <a:rPr lang="en-GB" dirty="0"/>
              <a:t>In conclusion total annual sales targets of £15M was exceeded from 2010 to 2017 .</a:t>
            </a:r>
          </a:p>
          <a:p>
            <a:pPr marL="457200" lvl="0" indent="-3187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4938"/>
              <a:buChar char="•"/>
            </a:pPr>
            <a:r>
              <a:rPr lang="en-GB" dirty="0"/>
              <a:t>However the overall trend on annual revenue showed a decline in the period of 2013 to 2016. </a:t>
            </a:r>
          </a:p>
          <a:p>
            <a:pPr marL="457200" lvl="0" indent="-3187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4938"/>
              <a:buChar char="•"/>
            </a:pPr>
            <a:r>
              <a:rPr lang="en-GB" dirty="0"/>
              <a:t>A significant a typical positive change can be seen in total revenue from 2010 to 2011 of 186%. </a:t>
            </a:r>
          </a:p>
          <a:p>
            <a:pPr marL="457200" lvl="0" indent="-3187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4938"/>
              <a:buChar char="•"/>
            </a:pPr>
            <a:r>
              <a:rPr lang="en-GB" dirty="0"/>
              <a:t>Annual profit targets of £1M were not meet in the time frame of 2010 to 2017. </a:t>
            </a:r>
          </a:p>
          <a:p>
            <a:pPr marL="457200" lvl="0" indent="-3187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4938"/>
              <a:buChar char="•"/>
            </a:pPr>
            <a:r>
              <a:rPr lang="en-GB" dirty="0"/>
              <a:t>Steady increase in profits can be seen from the year 2011 to 2012 of 83%, also in 2015 to 2016 of 35% and from 2016 to 2017 there is a further increase of 4%.</a:t>
            </a:r>
          </a:p>
          <a:p>
            <a:pPr marL="457200" lvl="0" indent="-3187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4938"/>
              <a:buChar char="•"/>
            </a:pPr>
            <a:endParaRPr lang="en-GB" dirty="0"/>
          </a:p>
          <a:p>
            <a:pPr marL="457200" lvl="0" indent="-3187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4938"/>
              <a:buChar char="•"/>
            </a:pPr>
            <a:endParaRPr sz="3990" dirty="0"/>
          </a:p>
          <a:p>
            <a:pPr marL="0" lvl="0" indent="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b="1"/>
              <a:t>RECOMMENDATION</a:t>
            </a:r>
            <a:endParaRPr/>
          </a:p>
        </p:txBody>
      </p:sp>
      <p:sp>
        <p:nvSpPr>
          <p:cNvPr id="151" name="Google Shape;151;p12"/>
          <p:cNvSpPr txBox="1">
            <a:spLocks noGrp="1"/>
          </p:cNvSpPr>
          <p:nvPr>
            <p:ph type="body" idx="1"/>
          </p:nvPr>
        </p:nvSpPr>
        <p:spPr>
          <a:xfrm>
            <a:off x="669387" y="169068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667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dirty="0"/>
              <a:t>Annual sales bench marks need to be reviewed, are these robust and ambitious and reflective of companies overall aims. </a:t>
            </a:r>
            <a:endParaRPr dirty="0"/>
          </a:p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2667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dirty="0"/>
              <a:t>Decline in profits from time period of 2013 to 2016 will require a review of operational efficiencies with considerations to </a:t>
            </a:r>
            <a:endParaRPr dirty="0"/>
          </a:p>
          <a:p>
            <a:pPr marL="685800" lvl="1" indent="-20574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dirty="0"/>
              <a:t>Cost control measures across regions  </a:t>
            </a:r>
            <a:endParaRPr dirty="0"/>
          </a:p>
          <a:p>
            <a:pPr marL="685800" lvl="1" indent="-20574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dirty="0"/>
              <a:t>Review Supply chain management to control costs </a:t>
            </a:r>
            <a:endParaRPr dirty="0"/>
          </a:p>
          <a:p>
            <a:pPr marL="685800" lvl="1" indent="-20574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dirty="0"/>
              <a:t>Review operational and marketing strategies </a:t>
            </a:r>
            <a:endParaRPr dirty="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dirty="0"/>
              <a:t>Further areas to analyse are </a:t>
            </a:r>
            <a:endParaRPr dirty="0"/>
          </a:p>
          <a:p>
            <a:pPr marL="685800" lvl="1" indent="-20574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dirty="0"/>
              <a:t>Market segmentation and trends in customer churn</a:t>
            </a:r>
          </a:p>
          <a:p>
            <a:pPr marL="685800" lvl="1" indent="-20574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dirty="0"/>
              <a:t>Build predictive models to support business decisions </a:t>
            </a:r>
          </a:p>
          <a:p>
            <a:pPr marL="685800" lvl="1" indent="-20574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dirty="0"/>
              <a:t>Cross functional collaboration with advertising , marketing and finance to support informed decisions </a:t>
            </a:r>
            <a:endParaRPr dirty="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 txBox="1">
            <a:spLocks noGrp="1"/>
          </p:cNvSpPr>
          <p:nvPr>
            <p:ph type="title"/>
          </p:nvPr>
        </p:nvSpPr>
        <p:spPr>
          <a:xfrm>
            <a:off x="3177309" y="2812762"/>
            <a:ext cx="5292437" cy="863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b="1"/>
              <a:t>END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701</Words>
  <Application>Microsoft Office PowerPoint</Application>
  <PresentationFormat>Widescreen</PresentationFormat>
  <Paragraphs>122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DIGITAL ECHOES</vt:lpstr>
      <vt:lpstr>GROUP NAME AND TEAM MEMBERS</vt:lpstr>
      <vt:lpstr>BECNH-MARK</vt:lpstr>
      <vt:lpstr>KEY PERFORMANCE INDICATORS</vt:lpstr>
      <vt:lpstr>TERMINOLOGIES</vt:lpstr>
      <vt:lpstr>PowerPoint Presentation</vt:lpstr>
      <vt:lpstr>KPI 1: Total Revenue made annually</vt:lpstr>
      <vt:lpstr>KPI 1: Total Revenue made annually</vt:lpstr>
      <vt:lpstr>KPI 1: Total Revenue made annually</vt:lpstr>
      <vt:lpstr>KPI 2 Average profits made annually </vt:lpstr>
      <vt:lpstr>KPI 2 Average profits made annually </vt:lpstr>
      <vt:lpstr>CONCLUSION</vt:lpstr>
      <vt:lpstr>RECOMMENDATION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ECHOES</dc:title>
  <dc:creator>Ms N Anwuri</dc:creator>
  <cp:lastModifiedBy>ngozi anwuri</cp:lastModifiedBy>
  <cp:revision>9</cp:revision>
  <dcterms:modified xsi:type="dcterms:W3CDTF">2026-02-07T22:09:12Z</dcterms:modified>
</cp:coreProperties>
</file>